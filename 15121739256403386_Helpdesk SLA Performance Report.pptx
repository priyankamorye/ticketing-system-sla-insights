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5" r:id="rId3"/>
    <p:sldId id="267" r:id="rId4"/>
    <p:sldId id="268" r:id="rId5"/>
    <p:sldId id="269" r:id="rId6"/>
    <p:sldId id="266" r:id="rId7"/>
    <p:sldId id="257" r:id="rId8"/>
    <p:sldId id="259" r:id="rId9"/>
    <p:sldId id="260" r:id="rId10"/>
    <p:sldId id="261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57B282-FDFB-4AEA-9A5B-714BB78A4E10}">
          <p14:sldIdLst>
            <p14:sldId id="256"/>
            <p14:sldId id="265"/>
            <p14:sldId id="267"/>
            <p14:sldId id="268"/>
            <p14:sldId id="269"/>
            <p14:sldId id="266"/>
            <p14:sldId id="257"/>
            <p14:sldId id="259"/>
            <p14:sldId id="260"/>
            <p14:sldId id="261"/>
          </p14:sldIdLst>
        </p14:section>
        <p14:section name="Untitled Section" id="{B88C6D08-8498-42D7-8C12-048110478418}">
          <p14:sldIdLst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EXP\Summary_cleaned_helpdesk_ticke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EXP\Summary_cleaned_helpdesk_ticke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EXP\Summary_cleaned_helpdesk_ticke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Tickets per current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48-4D27-B5C2-0A6D45D2BE8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48-4D27-B5C2-0A6D45D2BE8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48-4D27-B5C2-0A6D45D2BE8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48-4D27-B5C2-0A6D45D2BE8C}"/>
              </c:ext>
            </c:extLst>
          </c:dPt>
          <c:cat>
            <c:strRef>
              <c:f>Summary!$A$16:$A$19</c:f>
              <c:strCache>
                <c:ptCount val="4"/>
                <c:pt idx="0">
                  <c:v>Total tickets per Current status</c:v>
                </c:pt>
                <c:pt idx="1">
                  <c:v>Total Open Tickets</c:v>
                </c:pt>
                <c:pt idx="2">
                  <c:v>Total Resolved Tickets</c:v>
                </c:pt>
                <c:pt idx="3">
                  <c:v>Total Closed Tickets</c:v>
                </c:pt>
              </c:strCache>
            </c:strRef>
          </c:cat>
          <c:val>
            <c:numRef>
              <c:f>Summary!$B$16:$B$19</c:f>
              <c:numCache>
                <c:formatCode>General</c:formatCode>
                <c:ptCount val="4"/>
                <c:pt idx="1">
                  <c:v>64</c:v>
                </c:pt>
                <c:pt idx="2">
                  <c:v>14</c:v>
                </c:pt>
                <c:pt idx="3">
                  <c:v>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48-4D27-B5C2-0A6D45D2B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Tickets per Source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E3-4340-B508-FF25071A68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E3-4340-B508-FF25071A68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E3-4340-B508-FF25071A688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CE3-4340-B508-FF25071A688F}"/>
              </c:ext>
            </c:extLst>
          </c:dPt>
          <c:cat>
            <c:strRef>
              <c:f>Summary!$A$24:$A$27</c:f>
              <c:strCache>
                <c:ptCount val="4"/>
                <c:pt idx="0">
                  <c:v>Tickets per Source</c:v>
                </c:pt>
                <c:pt idx="1">
                  <c:v>Total Tickets from “Email”</c:v>
                </c:pt>
                <c:pt idx="2">
                  <c:v>Total Tickets from “Phone”</c:v>
                </c:pt>
                <c:pt idx="3">
                  <c:v>Total Tickets from “Web”</c:v>
                </c:pt>
              </c:strCache>
            </c:strRef>
          </c:cat>
          <c:val>
            <c:numRef>
              <c:f>Summary!$B$24:$B$27</c:f>
              <c:numCache>
                <c:formatCode>General</c:formatCode>
                <c:ptCount val="4"/>
                <c:pt idx="1">
                  <c:v>31</c:v>
                </c:pt>
                <c:pt idx="2">
                  <c:v>24</c:v>
                </c:pt>
                <c:pt idx="3">
                  <c:v>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E3-4340-B508-FF25071A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Tickets per team</a:t>
            </a:r>
          </a:p>
        </c:rich>
      </c:tx>
      <c:layout>
        <c:manualLayout>
          <c:xMode val="edge"/>
          <c:yMode val="edge"/>
          <c:x val="0.44898069747263408"/>
          <c:y val="3.0530524965765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BB-40B3-9C57-D3FAD027AF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BB-40B3-9C57-D3FAD027AF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BB-40B3-9C57-D3FAD027AFB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BB-40B3-9C57-D3FAD027AFB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DBB-40B3-9C57-D3FAD027AFB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DBB-40B3-9C57-D3FAD027AFB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DBB-40B3-9C57-D3FAD027AFB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DBB-40B3-9C57-D3FAD027AFB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DBB-40B3-9C57-D3FAD027AFBD}"/>
              </c:ext>
            </c:extLst>
          </c:dPt>
          <c:cat>
            <c:strRef>
              <c:f>Summary!$D$5:$D$13</c:f>
              <c:strCache>
                <c:ptCount val="9"/>
                <c:pt idx="0">
                  <c:v>SAP Support Team</c:v>
                </c:pt>
                <c:pt idx="1">
                  <c:v>JDE Support Team</c:v>
                </c:pt>
                <c:pt idx="2">
                  <c:v>Network Team</c:v>
                </c:pt>
                <c:pt idx="3">
                  <c:v>AWS Team</c:v>
                </c:pt>
                <c:pt idx="4">
                  <c:v>Help Desk Team</c:v>
                </c:pt>
                <c:pt idx="5">
                  <c:v>Hardware Team</c:v>
                </c:pt>
                <c:pt idx="6">
                  <c:v>BPM - ProcessMaker Support Team</c:v>
                </c:pt>
                <c:pt idx="7">
                  <c:v>Workday Team</c:v>
                </c:pt>
                <c:pt idx="8">
                  <c:v>Salesforce Team</c:v>
                </c:pt>
              </c:strCache>
            </c:strRef>
          </c:cat>
          <c:val>
            <c:numRef>
              <c:f>Summary!$E$5:$E$13</c:f>
              <c:numCache>
                <c:formatCode>General</c:formatCode>
                <c:ptCount val="9"/>
                <c:pt idx="0">
                  <c:v>190</c:v>
                </c:pt>
                <c:pt idx="1">
                  <c:v>249</c:v>
                </c:pt>
                <c:pt idx="2">
                  <c:v>38</c:v>
                </c:pt>
                <c:pt idx="3">
                  <c:v>16</c:v>
                </c:pt>
                <c:pt idx="4">
                  <c:v>35</c:v>
                </c:pt>
                <c:pt idx="5">
                  <c:v>3</c:v>
                </c:pt>
                <c:pt idx="6">
                  <c:v>2</c:v>
                </c:pt>
                <c:pt idx="7">
                  <c:v>7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DBB-40B3-9C57-D3FAD027A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2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8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43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7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9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7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3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1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7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23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69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49" r:id="rId6"/>
    <p:sldLayoutId id="2147483745" r:id="rId7"/>
    <p:sldLayoutId id="2147483746" r:id="rId8"/>
    <p:sldLayoutId id="2147483747" r:id="rId9"/>
    <p:sldLayoutId id="2147483748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379B693F-3B3A-802C-AC1F-768E3C04D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9" b="13142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DC328-1A53-B71C-FE01-272A1C072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IN" sz="5000" b="1" i="0" u="none" strike="noStrike" kern="100" baseline="0">
                <a:latin typeface="Times New Roman" panose="02020603050405020304" pitchFamily="18" charset="0"/>
              </a:rPr>
              <a:t>Helpdesk SLA Performance Report</a:t>
            </a:r>
            <a:endParaRPr lang="en-IN" sz="5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77892-8331-C81C-D2BB-9F083575D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IN" sz="1500" b="0" i="0" u="none" strike="noStrike" baseline="0">
              <a:latin typeface="Aptos" panose="020B00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1500" b="0" i="0" u="none" strike="noStrike" baseline="0">
                <a:latin typeface="Aptos" panose="020B0004020202020204" pitchFamily="34" charset="0"/>
              </a:rPr>
              <a:t> </a:t>
            </a:r>
            <a:r>
              <a:rPr lang="en-IN" sz="1500" b="1" i="0" u="none" strike="noStrike" baseline="0">
                <a:latin typeface="Aptos" panose="020B0004020202020204" pitchFamily="34" charset="0"/>
              </a:rPr>
              <a:t>Analysis &amp; Recommendations </a:t>
            </a:r>
            <a:endParaRPr lang="en-IN" sz="15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93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E082-2107-72C9-AEB9-8CF8DC88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6" y="1146748"/>
            <a:ext cx="10890929" cy="742012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Overview of dataset: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6AC9C-85E4-1E1D-272A-5E041B234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4813" y="2218543"/>
            <a:ext cx="5696262" cy="431716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1.Ticket Number: </a:t>
            </a:r>
            <a:r>
              <a:rPr lang="en-US" sz="2600" dirty="0">
                <a:latin typeface="Aptos" panose="020B0004020202020204" pitchFamily="34" charset="0"/>
              </a:rPr>
              <a:t>Unique identifier for each helpdesk ticket.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2.Date Created: </a:t>
            </a:r>
            <a:r>
              <a:rPr lang="en-US" sz="2600" dirty="0">
                <a:latin typeface="Aptos" panose="020B0004020202020204" pitchFamily="34" charset="0"/>
              </a:rPr>
              <a:t>Timestamp when the ticket was created.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3.Subject: </a:t>
            </a:r>
            <a:r>
              <a:rPr lang="en-US" sz="2600" dirty="0">
                <a:latin typeface="Aptos" panose="020B0004020202020204" pitchFamily="34" charset="0"/>
              </a:rPr>
              <a:t>Brief description of the issue.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4.From &amp; From Email: </a:t>
            </a:r>
            <a:r>
              <a:rPr lang="en-US" sz="2600" dirty="0">
                <a:latin typeface="Aptos" panose="020B0004020202020204" pitchFamily="34" charset="0"/>
              </a:rPr>
              <a:t>Name and email of the requester.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5.Priority: </a:t>
            </a:r>
            <a:r>
              <a:rPr lang="en-US" sz="2600" dirty="0">
                <a:latin typeface="Aptos" panose="020B0004020202020204" pitchFamily="34" charset="0"/>
              </a:rPr>
              <a:t>Urgency level (e.g., Emergency, High, Medium,    Low).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6.Department: </a:t>
            </a:r>
            <a:r>
              <a:rPr lang="en-US" sz="2600" dirty="0">
                <a:latin typeface="Aptos" panose="020B0004020202020204" pitchFamily="34" charset="0"/>
              </a:rPr>
              <a:t>The department handling the request.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7.Type: </a:t>
            </a:r>
            <a:r>
              <a:rPr lang="en-US" sz="2600" dirty="0">
                <a:latin typeface="Aptos" panose="020B0004020202020204" pitchFamily="34" charset="0"/>
              </a:rPr>
              <a:t>Nature of the issue (e.g., Incident / Problem).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8.Source: </a:t>
            </a:r>
            <a:r>
              <a:rPr lang="en-US" sz="2600" dirty="0">
                <a:latin typeface="Aptos" panose="020B0004020202020204" pitchFamily="34" charset="0"/>
              </a:rPr>
              <a:t>How the ticket was submitted (e.g., Web).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9.Current Status: </a:t>
            </a:r>
            <a:r>
              <a:rPr lang="en-US" sz="2600" dirty="0">
                <a:latin typeface="Aptos" panose="020B0004020202020204" pitchFamily="34" charset="0"/>
              </a:rPr>
              <a:t>Status of the ticket (e.g., Closed, Resolved).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10.Last Updated: </a:t>
            </a:r>
            <a:r>
              <a:rPr lang="en-US" sz="2600" dirty="0">
                <a:latin typeface="Aptos" panose="020B0004020202020204" pitchFamily="34" charset="0"/>
              </a:rPr>
              <a:t>The last time the ticket was modified.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FBB0-1DD0-A67B-1CC0-C6BAA2D2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18543"/>
            <a:ext cx="6055027" cy="41822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11. Due Date: </a:t>
            </a:r>
            <a:r>
              <a:rPr lang="en-US" sz="2600" dirty="0">
                <a:latin typeface="Aptos" panose="020B0004020202020204" pitchFamily="34" charset="0"/>
              </a:rPr>
              <a:t>Expected resolution deadline.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12. Overdue: </a:t>
            </a:r>
            <a:r>
              <a:rPr lang="en-US" sz="2600" dirty="0">
                <a:latin typeface="Aptos" panose="020B0004020202020204" pitchFamily="34" charset="0"/>
              </a:rPr>
              <a:t>Whether the ticket is overdue (binary: 0 or 1).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13. Answered: </a:t>
            </a:r>
            <a:r>
              <a:rPr lang="en-US" sz="2600" dirty="0">
                <a:latin typeface="Aptos" panose="020B0004020202020204" pitchFamily="34" charset="0"/>
              </a:rPr>
              <a:t>Whether the ticket has been responded to (binary: 0  or 1).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14. Agent Assigned:</a:t>
            </a:r>
            <a:r>
              <a:rPr lang="en-US" sz="2600" dirty="0">
                <a:latin typeface="Aptos" panose="020B0004020202020204" pitchFamily="34" charset="0"/>
              </a:rPr>
              <a:t> Name of the assigned support agent.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15. Team Assigned:</a:t>
            </a:r>
            <a:r>
              <a:rPr lang="en-US" sz="2600" dirty="0">
                <a:latin typeface="Aptos" panose="020B0004020202020204" pitchFamily="34" charset="0"/>
              </a:rPr>
              <a:t> Support team handling the request.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16. Thread Count: </a:t>
            </a:r>
            <a:r>
              <a:rPr lang="en-US" sz="2600" dirty="0">
                <a:latin typeface="Aptos" panose="020B0004020202020204" pitchFamily="34" charset="0"/>
              </a:rPr>
              <a:t>Number of interactions in the ticket.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17. Attachment Count: </a:t>
            </a:r>
            <a:r>
              <a:rPr lang="en-US" sz="2600" dirty="0">
                <a:latin typeface="Aptos" panose="020B0004020202020204" pitchFamily="34" charset="0"/>
              </a:rPr>
              <a:t>Number of attached files.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18. Category: </a:t>
            </a:r>
            <a:r>
              <a:rPr lang="en-US" sz="2600" dirty="0">
                <a:latin typeface="Aptos" panose="020B0004020202020204" pitchFamily="34" charset="0"/>
              </a:rPr>
              <a:t>Classification of the issue (e.g., PROD for production issues).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19. Issue Origin: </a:t>
            </a:r>
            <a:r>
              <a:rPr lang="en-US" sz="2600" dirty="0">
                <a:latin typeface="Aptos" panose="020B0004020202020204" pitchFamily="34" charset="0"/>
              </a:rPr>
              <a:t>The origin of the issue (e.g., Production).</a:t>
            </a:r>
          </a:p>
          <a:p>
            <a:pPr marL="0" indent="0">
              <a:buNone/>
            </a:pPr>
            <a:r>
              <a:rPr lang="en-US" sz="2600" b="1" dirty="0">
                <a:latin typeface="Aptos" panose="020B0004020202020204" pitchFamily="34" charset="0"/>
              </a:rPr>
              <a:t>20. Select Ticket Status Update: </a:t>
            </a:r>
            <a:r>
              <a:rPr lang="en-US" sz="2600" dirty="0">
                <a:latin typeface="Aptos" panose="020B0004020202020204" pitchFamily="34" charset="0"/>
              </a:rPr>
              <a:t>The latest update on ticket status</a:t>
            </a:r>
            <a:r>
              <a:rPr lang="en-US" sz="2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42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A802-737E-FA29-B682-073C2DEA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1116766"/>
            <a:ext cx="10890929" cy="831953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Data summary: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621BA77-0F79-672B-6442-2EE5C33308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0820" y="2068643"/>
            <a:ext cx="5159872" cy="308236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7F69920-5F92-CD50-530A-BD2F53B85B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39763" y="2068643"/>
            <a:ext cx="5731057" cy="3082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AE2D54-6FF5-A866-F2F0-C791A2A17C0F}"/>
              </a:ext>
            </a:extLst>
          </p:cNvPr>
          <p:cNvSpPr txBox="1"/>
          <p:nvPr/>
        </p:nvSpPr>
        <p:spPr>
          <a:xfrm>
            <a:off x="639763" y="5371901"/>
            <a:ext cx="5731057" cy="111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B750F-C278-229F-BBB6-A4D1E0CF8FE0}"/>
              </a:ext>
            </a:extLst>
          </p:cNvPr>
          <p:cNvSpPr txBox="1"/>
          <p:nvPr/>
        </p:nvSpPr>
        <p:spPr>
          <a:xfrm>
            <a:off x="712769" y="5379822"/>
            <a:ext cx="5731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Total Tickets per Priority</a:t>
            </a:r>
            <a:r>
              <a:rPr lang="en-US" sz="2000" dirty="0">
                <a:latin typeface="Aptos" panose="020B0004020202020204" pitchFamily="34" charset="0"/>
              </a:rPr>
              <a:t> – Categorizes tickets based on priority levels (e.g., Emergency, High, Normal, Low).</a:t>
            </a: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B1C5C-8439-7B48-1591-A1C3F874179A}"/>
              </a:ext>
            </a:extLst>
          </p:cNvPr>
          <p:cNvSpPr txBox="1"/>
          <p:nvPr/>
        </p:nvSpPr>
        <p:spPr>
          <a:xfrm>
            <a:off x="6516832" y="5371901"/>
            <a:ext cx="5035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Total Tickets per Type</a:t>
            </a:r>
            <a:r>
              <a:rPr lang="en-US" sz="2000" dirty="0">
                <a:latin typeface="Aptos" panose="020B0004020202020204" pitchFamily="34" charset="0"/>
              </a:rPr>
              <a:t> – Groups tickets by type, such as Incident/Problem and Request.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1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6646-30E0-ADB3-F89B-FCB0B1AB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801973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Data summary:</a:t>
            </a:r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6477EB-B848-E534-649A-A43BD6221E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11907443"/>
              </p:ext>
            </p:extLst>
          </p:nvPr>
        </p:nvGraphicFramePr>
        <p:xfrm>
          <a:off x="639763" y="2243138"/>
          <a:ext cx="5221391" cy="2973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BCA8D2-9B5E-36C8-6869-344EEC11A7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4336683"/>
              </p:ext>
            </p:extLst>
          </p:nvPr>
        </p:nvGraphicFramePr>
        <p:xfrm>
          <a:off x="6095999" y="2243139"/>
          <a:ext cx="5221391" cy="309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823C27-051A-FEA9-AF64-72014D926F46}"/>
              </a:ext>
            </a:extLst>
          </p:cNvPr>
          <p:cNvSpPr txBox="1"/>
          <p:nvPr/>
        </p:nvSpPr>
        <p:spPr>
          <a:xfrm>
            <a:off x="809469" y="5486399"/>
            <a:ext cx="43171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Total Tickets per Current Status</a:t>
            </a:r>
            <a:r>
              <a:rPr lang="en-US" sz="2000" dirty="0">
                <a:latin typeface="Aptos" panose="020B0004020202020204" pitchFamily="34" charset="0"/>
              </a:rPr>
              <a:t> – Shows ticket distribution by status, including Open, Resolved, and Closed tickets.</a:t>
            </a:r>
            <a:endParaRPr lang="en-IN" sz="20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DEF29-0E33-36B7-B0BD-0865EB9936EF}"/>
              </a:ext>
            </a:extLst>
          </p:cNvPr>
          <p:cNvSpPr txBox="1"/>
          <p:nvPr/>
        </p:nvSpPr>
        <p:spPr>
          <a:xfrm>
            <a:off x="6820525" y="5621311"/>
            <a:ext cx="4496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Total Tickets per Current Status</a:t>
            </a:r>
            <a:r>
              <a:rPr lang="en-US" sz="2000" dirty="0">
                <a:latin typeface="Aptos" panose="020B0004020202020204" pitchFamily="34" charset="0"/>
              </a:rPr>
              <a:t> – Shows ticket distribution by source, including Email, Web and Phone.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06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7584-2170-F67B-2ADC-A766A8B4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75626"/>
            <a:ext cx="10890929" cy="801973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Dataset Summary:</a:t>
            </a:r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CB783C-38F8-85FE-E3E9-0395BB65D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455168"/>
              </p:ext>
            </p:extLst>
          </p:nvPr>
        </p:nvGraphicFramePr>
        <p:xfrm>
          <a:off x="461967" y="1784501"/>
          <a:ext cx="9358360" cy="3327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A53DCD-38CD-F042-E953-6E96BA811FEA}"/>
              </a:ext>
            </a:extLst>
          </p:cNvPr>
          <p:cNvSpPr txBox="1"/>
          <p:nvPr/>
        </p:nvSpPr>
        <p:spPr>
          <a:xfrm>
            <a:off x="2060568" y="6460756"/>
            <a:ext cx="8874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EF6600F-8955-16EE-D8AF-935A7D322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832" y="5782374"/>
            <a:ext cx="83909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Tickets per Team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Displays the total number of tickets handled by different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0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D87F-C4DF-A11F-5EEA-D2AADF1E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Observations: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D15E6-8AC7-B9ED-2F44-D94A17730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Missing Values: 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Some columns have missing values, such as Type (2 missing), Team Assigned (2 missing), Issue Origin (2 missing), and Select Ticket Status Update (4 missing).</a:t>
            </a: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Data Types:</a:t>
            </a:r>
          </a:p>
          <a:p>
            <a:r>
              <a:rPr lang="en-US" b="1" dirty="0">
                <a:latin typeface="Aptos" panose="020B0004020202020204" pitchFamily="34" charset="0"/>
              </a:rPr>
              <a:t>Datetime fields: </a:t>
            </a:r>
            <a:r>
              <a:rPr lang="en-US" dirty="0">
                <a:latin typeface="Aptos" panose="020B0004020202020204" pitchFamily="34" charset="0"/>
              </a:rPr>
              <a:t>Date Created, Last Updated, and Due Date are datetime fields.</a:t>
            </a:r>
          </a:p>
          <a:p>
            <a:r>
              <a:rPr lang="en-US" b="1" dirty="0">
                <a:latin typeface="Aptos" panose="020B0004020202020204" pitchFamily="34" charset="0"/>
              </a:rPr>
              <a:t>Categorical Priority:</a:t>
            </a:r>
            <a:r>
              <a:rPr lang="en-US" dirty="0">
                <a:latin typeface="Aptos" panose="020B0004020202020204" pitchFamily="34" charset="0"/>
              </a:rPr>
              <a:t> Department, Status, and Category are categorical.</a:t>
            </a:r>
          </a:p>
          <a:p>
            <a:r>
              <a:rPr lang="en-US" b="1" dirty="0">
                <a:latin typeface="Aptos" panose="020B0004020202020204" pitchFamily="34" charset="0"/>
              </a:rPr>
              <a:t>Numerical: </a:t>
            </a:r>
            <a:r>
              <a:rPr lang="en-US" dirty="0">
                <a:latin typeface="Aptos" panose="020B0004020202020204" pitchFamily="34" charset="0"/>
              </a:rPr>
              <a:t>Overdue, Answered, and Attachment Count are numerical.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60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1782-DD25-BC05-F9C5-F50C3F13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IN" sz="4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Objectives: </a:t>
            </a:r>
            <a:br>
              <a:rPr lang="en-IN" sz="40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15AD-732D-DBC6-0C9A-A7E41363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Analyze ticket volume and prioritization trends.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Assess SLA compliance and identify delays.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Highlight common challenges affecting resolution times.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Recommend strategies to improve SLA adherence and overall efficiency.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23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0C03-7395-0BA8-B22F-D6B4908F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Aptos" panose="020B0004020202020204" pitchFamily="34" charset="0"/>
              </a:rPr>
              <a:t>Balancing resource allocation across different priority levels is crucial.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168A-3FA0-2366-D3BF-263067660C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Key Findings</a:t>
            </a:r>
            <a:r>
              <a:rPr lang="en-IN" sz="2400" b="1" dirty="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br>
              <a:rPr lang="en-IN" b="1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IN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IN" sz="1800" b="1" dirty="0">
                <a:solidFill>
                  <a:srgbClr val="000000"/>
                </a:solidFill>
                <a:latin typeface="Aptos" panose="020B0004020202020204" pitchFamily="34" charset="0"/>
              </a:rPr>
              <a:t>Total Tickets Logged: 549 </a:t>
            </a:r>
          </a:p>
          <a:p>
            <a:r>
              <a:rPr lang="en-IN" sz="1800" b="1" dirty="0">
                <a:solidFill>
                  <a:srgbClr val="000000"/>
                </a:solidFill>
                <a:latin typeface="Aptos" panose="020B0004020202020204" pitchFamily="34" charset="0"/>
              </a:rPr>
              <a:t>Emergency Tickets: 53 </a:t>
            </a:r>
          </a:p>
          <a:p>
            <a:r>
              <a:rPr lang="en-IN" sz="1800" b="1" dirty="0">
                <a:solidFill>
                  <a:srgbClr val="000000"/>
                </a:solidFill>
                <a:latin typeface="Aptos" panose="020B0004020202020204" pitchFamily="34" charset="0"/>
              </a:rPr>
              <a:t>High-Priority Tickets: 115 </a:t>
            </a:r>
          </a:p>
          <a:p>
            <a:r>
              <a:rPr lang="en-IN" sz="1800" b="1" dirty="0">
                <a:solidFill>
                  <a:srgbClr val="000000"/>
                </a:solidFill>
                <a:latin typeface="Aptos" panose="020B0004020202020204" pitchFamily="34" charset="0"/>
              </a:rPr>
              <a:t>Normal-Priority Tickets: 340 </a:t>
            </a:r>
          </a:p>
          <a:p>
            <a:r>
              <a:rPr lang="en-IN" sz="1800" b="1" dirty="0">
                <a:solidFill>
                  <a:srgbClr val="000000"/>
                </a:solidFill>
                <a:latin typeface="Aptos" panose="020B0004020202020204" pitchFamily="34" charset="0"/>
              </a:rPr>
              <a:t>Low-Priority Tickets: 41 </a:t>
            </a:r>
          </a:p>
          <a:p>
            <a:pPr marL="0" indent="0">
              <a:buNone/>
            </a:pPr>
            <a:endParaRPr lang="en-IN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A78EF-A2B0-C77F-E7F0-8E36C9B90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IN" sz="24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Recommendations: </a:t>
            </a:r>
            <a:endParaRPr lang="en-IN" sz="24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Automate ticket categorization based on priority.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Implement escalation workflows to ensure high-priority tickets are addressed first.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Optimize team workload distribution to prevent backlogs.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950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CD82-98AE-6D5E-E459-FD81DE98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SLA Performance Analysis 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38129-F726-7484-0A50-C96A31B966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Findings: </a:t>
            </a:r>
            <a:endParaRPr lang="en-IN" sz="26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Certain priority levels may be experiencing delays due to resource constraints.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Resolution time inconsistencies across different ticket categories.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High percentage of unresolved or overdue tickets leading to SLA breaches.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499F9-5FBE-E146-0AAB-ED267A5940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Recommendations: </a:t>
            </a:r>
            <a:endParaRPr lang="en-IN" sz="26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Implement real-time SLA monitoring dashboards.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Regularly review unresolved ticket logs to identify systemic delays.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Set up automated reminders and escalations for tickets nearing SLA deadlines.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08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EA65-ACE4-0F3B-4F67-00116330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Key Challenges Affecting SLA Compliance: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01C7-EA4E-EB7E-70A3-A7D97B8F1F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pPr marL="0" indent="0" algn="l">
              <a:buNone/>
            </a:pPr>
            <a:r>
              <a:rPr lang="en-US" sz="5000" b="1" dirty="0">
                <a:latin typeface="Aptos" panose="020B0004020202020204" pitchFamily="34" charset="0"/>
              </a:rPr>
              <a:t>Challenges:</a:t>
            </a:r>
            <a:endParaRPr lang="en-IN" sz="2800" b="1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4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High Ticket Volume </a:t>
            </a:r>
            <a:r>
              <a:rPr lang="en-US" sz="4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– Large volumes of incidents are leading to backlogs. </a:t>
            </a:r>
          </a:p>
          <a:p>
            <a:r>
              <a:rPr lang="en-US" sz="4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Delayed Response Times </a:t>
            </a:r>
            <a:r>
              <a:rPr lang="en-US" sz="4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– High-priority tickets not being acknowledged within SLA timeframes. </a:t>
            </a:r>
          </a:p>
          <a:p>
            <a:r>
              <a:rPr lang="en-US" sz="4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Lack of Automation </a:t>
            </a:r>
            <a:r>
              <a:rPr lang="en-US" sz="4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– Manual ticket assignment and categorization slow down resolution. </a:t>
            </a:r>
          </a:p>
          <a:p>
            <a:r>
              <a:rPr lang="en-US" sz="42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Resource Constraints </a:t>
            </a:r>
            <a:r>
              <a:rPr lang="en-US" sz="4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– Insufficient staffing to handle urgent cases effectively.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DD489-69ED-7839-7D32-75CFBC14A3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50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Recommendations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endParaRPr lang="en-IN" sz="2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50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Implement chatbots or automated response systems for quicker ticket acknowledgment. </a:t>
            </a:r>
          </a:p>
          <a:p>
            <a:r>
              <a:rPr lang="en-US" sz="50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Improve ticket triaging processes to allocate resources efficiently. </a:t>
            </a:r>
          </a:p>
          <a:p>
            <a:r>
              <a:rPr lang="en-US" sz="50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Invest in knowledge management tools for faster troubleshooting.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98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DC43F-9653-1C17-8DF2-8D6693C0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933582"/>
            <a:ext cx="3794760" cy="4144684"/>
          </a:xfrm>
        </p:spPr>
        <p:txBody>
          <a:bodyPr anchor="t">
            <a:normAutofit/>
          </a:bodyPr>
          <a:lstStyle/>
          <a:p>
            <a:r>
              <a:rPr lang="en-IN" sz="3100" b="1" i="0" u="none" strike="noStrike" baseline="0" dirty="0">
                <a:latin typeface="Aptos" panose="020B0004020202020204" pitchFamily="34" charset="0"/>
              </a:rPr>
              <a:t>Recommendations for SLA Improvement</a:t>
            </a: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5308-85C8-418D-47FD-F5D313801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2393" y="1051558"/>
            <a:ext cx="8094689" cy="5694011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b="1" i="0" u="none" strike="noStrike" baseline="0" dirty="0">
                <a:latin typeface="Aptos" panose="020B0004020202020204" pitchFamily="34" charset="0"/>
              </a:rPr>
              <a:t>Process Improvements: </a:t>
            </a:r>
            <a:endParaRPr lang="en-IN" b="0" i="0" u="none" strike="noStrike" baseline="0" dirty="0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Automate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ticket categorization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and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workflow management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Introduce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tiered support teams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to handle different priority levels. </a:t>
            </a: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Regular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SLA performance reviews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to identify areas for improvement. </a:t>
            </a:r>
            <a:endParaRPr lang="en-IN" sz="1600" b="0" i="0" u="none" strike="noStrike" baseline="0" dirty="0">
              <a:latin typeface="Aptos" panose="020B00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N" b="1" i="0" u="none" strike="noStrike" baseline="0" dirty="0">
                <a:latin typeface="Aptos" panose="020B0004020202020204" pitchFamily="34" charset="0"/>
              </a:rPr>
              <a:t>Technology Enhancements: </a:t>
            </a:r>
            <a:endParaRPr lang="en-IN" b="0" i="0" u="none" strike="noStrike" baseline="0" dirty="0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Implement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AI-driven ticket routing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to assign tickets based on urgency and expertise. </a:t>
            </a: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Use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real-time dashboards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to track SLA compliance. </a:t>
            </a:r>
          </a:p>
          <a:p>
            <a:pPr>
              <a:lnSpc>
                <a:spcPct val="110000"/>
              </a:lnSpc>
            </a:pPr>
            <a:r>
              <a:rPr lang="en-US" sz="1800" b="0" i="0" u="none" strike="noStrike" baseline="0" dirty="0">
                <a:latin typeface="Aptos" panose="020B0004020202020204" pitchFamily="34" charset="0"/>
              </a:rPr>
              <a:t>Enable </a:t>
            </a:r>
            <a:r>
              <a:rPr lang="en-US" sz="1800" b="1" i="0" u="none" strike="noStrike" baseline="0" dirty="0">
                <a:latin typeface="Aptos" panose="020B0004020202020204" pitchFamily="34" charset="0"/>
              </a:rPr>
              <a:t>self-service portals </a:t>
            </a:r>
            <a:r>
              <a:rPr lang="en-US" sz="1800" b="0" i="0" u="none" strike="noStrike" baseline="0" dirty="0">
                <a:latin typeface="Aptos" panose="020B0004020202020204" pitchFamily="34" charset="0"/>
              </a:rPr>
              <a:t>to reduce ticket volume by allowing users to resolve minor issues independently. </a:t>
            </a:r>
            <a:endParaRPr lang="en-IN" sz="1600" dirty="0">
              <a:latin typeface="Aptos" panose="020B00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N" b="1" i="0" u="none" strike="noStrike" baseline="0" dirty="0">
                <a:latin typeface="Aptos" panose="020B0004020202020204" pitchFamily="34" charset="0"/>
              </a:rPr>
              <a:t>Staffing &amp; Training: </a:t>
            </a:r>
            <a:endParaRPr lang="en-IN" b="0" i="0" u="none" strike="noStrike" baseline="0" dirty="0"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600" b="0" i="0" u="none" strike="noStrike" baseline="0" dirty="0">
                <a:latin typeface="Aptos" panose="020B0004020202020204" pitchFamily="34" charset="0"/>
              </a:rPr>
              <a:t>Provide </a:t>
            </a:r>
            <a:r>
              <a:rPr lang="en-US" sz="1600" b="1" i="0" u="none" strike="noStrike" baseline="0" dirty="0">
                <a:latin typeface="Aptos" panose="020B0004020202020204" pitchFamily="34" charset="0"/>
              </a:rPr>
              <a:t>SLA awareness training </a:t>
            </a:r>
            <a:r>
              <a:rPr lang="en-US" sz="1600" b="0" i="0" u="none" strike="noStrike" baseline="0" dirty="0">
                <a:latin typeface="Aptos" panose="020B0004020202020204" pitchFamily="34" charset="0"/>
              </a:rPr>
              <a:t>for support teams. </a:t>
            </a:r>
          </a:p>
          <a:p>
            <a:pPr>
              <a:lnSpc>
                <a:spcPct val="110000"/>
              </a:lnSpc>
            </a:pPr>
            <a:r>
              <a:rPr lang="en-US" sz="1600" b="0" i="0" u="none" strike="noStrike" baseline="0" dirty="0">
                <a:latin typeface="Aptos" panose="020B0004020202020204" pitchFamily="34" charset="0"/>
              </a:rPr>
              <a:t>Allocate </a:t>
            </a:r>
            <a:r>
              <a:rPr lang="en-US" sz="1600" b="1" i="0" u="none" strike="noStrike" baseline="0" dirty="0">
                <a:latin typeface="Aptos" panose="020B0004020202020204" pitchFamily="34" charset="0"/>
              </a:rPr>
              <a:t>dedicated resources </a:t>
            </a:r>
            <a:r>
              <a:rPr lang="en-US" sz="1600" b="0" i="0" u="none" strike="noStrike" baseline="0" dirty="0">
                <a:latin typeface="Aptos" panose="020B0004020202020204" pitchFamily="34" charset="0"/>
              </a:rPr>
              <a:t>for emergency and high-priority tickets. </a:t>
            </a:r>
          </a:p>
          <a:p>
            <a:pPr>
              <a:lnSpc>
                <a:spcPct val="110000"/>
              </a:lnSpc>
            </a:pPr>
            <a:r>
              <a:rPr lang="en-US" sz="1600" b="0" i="0" u="none" strike="noStrike" baseline="0" dirty="0">
                <a:latin typeface="Aptos" panose="020B0004020202020204" pitchFamily="34" charset="0"/>
              </a:rPr>
              <a:t>Establish </a:t>
            </a:r>
            <a:r>
              <a:rPr lang="en-US" sz="1600" b="1" i="0" u="none" strike="noStrike" baseline="0" dirty="0">
                <a:latin typeface="Aptos" panose="020B0004020202020204" pitchFamily="34" charset="0"/>
              </a:rPr>
              <a:t>knowledge-sharing </a:t>
            </a:r>
            <a:r>
              <a:rPr lang="en-US" sz="1600" b="0" i="0" u="none" strike="noStrike" baseline="0" dirty="0">
                <a:latin typeface="Aptos" panose="020B0004020202020204" pitchFamily="34" charset="0"/>
              </a:rPr>
              <a:t>platforms to improve issue resolution speed. </a:t>
            </a:r>
          </a:p>
          <a:p>
            <a:pPr>
              <a:lnSpc>
                <a:spcPct val="110000"/>
              </a:lnSpc>
            </a:pPr>
            <a:endParaRPr lang="en-IN" sz="13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65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70C5-DA17-06EA-5701-52075C7A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690736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2060"/>
                </a:solidFill>
                <a:latin typeface="Aptos" panose="020B0004020202020204" pitchFamily="34" charset="0"/>
              </a:rPr>
              <a:t>Thank you</a:t>
            </a:r>
            <a:endParaRPr lang="en-IN" sz="5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16122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AnalogousFromDarkSeedLeftStep">
      <a:dk1>
        <a:srgbClr val="000000"/>
      </a:dk1>
      <a:lt1>
        <a:srgbClr val="FFFFFF"/>
      </a:lt1>
      <a:dk2>
        <a:srgbClr val="1C2732"/>
      </a:dk2>
      <a:lt2>
        <a:srgbClr val="F0F3F1"/>
      </a:lt2>
      <a:accent1>
        <a:srgbClr val="C34DB4"/>
      </a:accent1>
      <a:accent2>
        <a:srgbClr val="903BB1"/>
      </a:accent2>
      <a:accent3>
        <a:srgbClr val="704DC3"/>
      </a:accent3>
      <a:accent4>
        <a:srgbClr val="3F4DB3"/>
      </a:accent4>
      <a:accent5>
        <a:srgbClr val="4D8CC3"/>
      </a:accent5>
      <a:accent6>
        <a:srgbClr val="3BACB1"/>
      </a:accent6>
      <a:hlink>
        <a:srgbClr val="3F6EBF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178</TotalTime>
  <Words>851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Grandview Display</vt:lpstr>
      <vt:lpstr>Times New Roman</vt:lpstr>
      <vt:lpstr>DashVTI</vt:lpstr>
      <vt:lpstr>Helpdesk SLA Performance Report</vt:lpstr>
      <vt:lpstr>Overview of dataset:</vt:lpstr>
      <vt:lpstr>Data summary:</vt:lpstr>
      <vt:lpstr>Data summary:</vt:lpstr>
      <vt:lpstr>Dataset Summary:</vt:lpstr>
      <vt:lpstr>Observations:</vt:lpstr>
      <vt:lpstr> Objectives:  </vt:lpstr>
      <vt:lpstr>Balancing resource allocation across different priority levels is crucial. </vt:lpstr>
      <vt:lpstr>SLA Performance Analysis </vt:lpstr>
      <vt:lpstr>Key Challenges Affecting SLA Compliance:</vt:lpstr>
      <vt:lpstr>Recommendations for SLA Improvement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morye</dc:creator>
  <cp:lastModifiedBy>priyanka morye</cp:lastModifiedBy>
  <cp:revision>6</cp:revision>
  <dcterms:created xsi:type="dcterms:W3CDTF">2025-02-01T15:21:24Z</dcterms:created>
  <dcterms:modified xsi:type="dcterms:W3CDTF">2025-02-11T06:44:27Z</dcterms:modified>
</cp:coreProperties>
</file>